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1"/>
  </p:sldMasterIdLst>
  <p:sldIdLst>
    <p:sldId id="256" r:id="rId2"/>
    <p:sldId id="257" r:id="rId3"/>
    <p:sldId id="258" r:id="rId4"/>
    <p:sldId id="259" r:id="rId5"/>
    <p:sldId id="270" r:id="rId6"/>
    <p:sldId id="271" r:id="rId7"/>
    <p:sldId id="269" r:id="rId8"/>
    <p:sldId id="264" r:id="rId9"/>
    <p:sldId id="268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0A7893-1D88-5EFF-D3D7-09205068731B}" v="281" dt="2025-09-08T19:07:49.568"/>
    <p1510:client id="{FD1B2A07-2272-96EA-EA88-78631C35C492}" v="185" dt="2025-09-09T00:20:55.1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b"/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16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791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77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980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068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909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662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892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391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414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227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lIns="109728" tIns="109728" rIns="109728" bIns="91440"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900" spc="5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900" spc="5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615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76" r:id="rId6"/>
    <p:sldLayoutId id="2147483672" r:id="rId7"/>
    <p:sldLayoutId id="2147483673" r:id="rId8"/>
    <p:sldLayoutId id="2147483674" r:id="rId9"/>
    <p:sldLayoutId id="2147483675" r:id="rId10"/>
    <p:sldLayoutId id="214748367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b="1" kern="1200" spc="1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 spc="7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 spc="7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 spc="7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7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7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EDBC09E-10FE-C48A-8AE5-2DE3D7D705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72954" y="978408"/>
            <a:ext cx="7559034" cy="3290123"/>
          </a:xfrm>
        </p:spPr>
        <p:txBody>
          <a:bodyPr anchor="t">
            <a:normAutofit/>
          </a:bodyPr>
          <a:lstStyle/>
          <a:p>
            <a:r>
              <a:rPr lang="ko-KR" altLang="en-US" sz="6600" dirty="0">
                <a:ea typeface="Microsoft GothicNeo"/>
                <a:cs typeface="Microsoft GothicNeo"/>
              </a:rPr>
              <a:t>모바일 FPS 게임</a:t>
            </a:r>
            <a:br>
              <a:rPr lang="ko-KR" altLang="en-US" sz="6600" dirty="0">
                <a:ea typeface="Microsoft GothicNeo"/>
                <a:cs typeface="Microsoft GothicNeo"/>
              </a:rPr>
            </a:br>
            <a:r>
              <a:rPr lang="ko-KR" altLang="en-US" sz="5400" dirty="0">
                <a:ea typeface="Microsoft GothicNeo"/>
                <a:cs typeface="Microsoft GothicNeo"/>
              </a:rPr>
              <a:t>(</a:t>
            </a:r>
            <a:r>
              <a:rPr lang="ko-KR" altLang="en-US" sz="5400" dirty="0" err="1">
                <a:ea typeface="Microsoft GothicNeo"/>
                <a:cs typeface="Microsoft GothicNeo"/>
              </a:rPr>
              <a:t>Void</a:t>
            </a:r>
            <a:r>
              <a:rPr lang="ko-KR" altLang="en-US" sz="5400" dirty="0">
                <a:ea typeface="Microsoft GothicNeo"/>
                <a:cs typeface="Microsoft GothicNeo"/>
              </a:rPr>
              <a:t> </a:t>
            </a:r>
            <a:r>
              <a:rPr lang="ko-KR" altLang="en-US" sz="5400" dirty="0" err="1">
                <a:ea typeface="Microsoft GothicNeo"/>
                <a:cs typeface="Microsoft GothicNeo"/>
              </a:rPr>
              <a:t>Hunter</a:t>
            </a:r>
            <a:r>
              <a:rPr lang="ko-KR" altLang="en-US" sz="5400" dirty="0">
                <a:ea typeface="Microsoft GothicNeo"/>
                <a:cs typeface="Microsoft GothicNeo"/>
              </a:rPr>
              <a:t> AR)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517870" y="4854298"/>
            <a:ext cx="6141545" cy="1352181"/>
          </a:xfrm>
        </p:spPr>
        <p:txBody>
          <a:bodyPr anchor="t">
            <a:normAutofit fontScale="85000" lnSpcReduction="20000"/>
          </a:bodyPr>
          <a:lstStyle/>
          <a:p>
            <a:r>
              <a:rPr lang="ko-KR" altLang="en-US">
                <a:ea typeface="Microsoft GothicNeo"/>
                <a:cs typeface="Microsoft GothicNeo"/>
              </a:rPr>
              <a:t>AIR                </a:t>
            </a:r>
            <a:r>
              <a:rPr lang="ko-KR" altLang="en-US" err="1">
                <a:ea typeface="Microsoft GothicNeo"/>
                <a:cs typeface="Microsoft GothicNeo"/>
              </a:rPr>
              <a:t>이찬희</a:t>
            </a:r>
            <a:endParaRPr lang="ko-KR" altLang="en-US">
              <a:ea typeface="Microsoft GothicNeo"/>
              <a:cs typeface="Microsoft GothicNeo"/>
            </a:endParaRPr>
          </a:p>
          <a:p>
            <a:r>
              <a:rPr lang="ko-KR" altLang="en-US" dirty="0">
                <a:ea typeface="Microsoft GothicNeo"/>
                <a:cs typeface="Microsoft GothicNeo"/>
              </a:rPr>
              <a:t>       </a:t>
            </a:r>
            <a:r>
              <a:rPr lang="ko-KR" altLang="en-US">
                <a:ea typeface="Microsoft GothicNeo"/>
                <a:cs typeface="Microsoft GothicNeo"/>
              </a:rPr>
              <a:t> </a:t>
            </a:r>
            <a:r>
              <a:rPr lang="ko-KR" altLang="en-US" dirty="0">
                <a:ea typeface="Microsoft GothicNeo"/>
                <a:cs typeface="Microsoft GothicNeo"/>
              </a:rPr>
              <a:t>   </a:t>
            </a:r>
            <a:r>
              <a:rPr lang="ko-KR" altLang="en-US">
                <a:ea typeface="Microsoft GothicNeo"/>
                <a:cs typeface="Microsoft GothicNeo"/>
              </a:rPr>
              <a:t> </a:t>
            </a:r>
            <a:r>
              <a:rPr lang="ko-KR" altLang="en-US" dirty="0">
                <a:ea typeface="Microsoft GothicNeo"/>
                <a:cs typeface="Microsoft GothicNeo"/>
              </a:rPr>
              <a:t>  </a:t>
            </a:r>
            <a:r>
              <a:rPr lang="ko-KR" altLang="en-US">
                <a:ea typeface="Microsoft GothicNeo"/>
                <a:cs typeface="Microsoft GothicNeo"/>
              </a:rPr>
              <a:t>  이창희</a:t>
            </a:r>
          </a:p>
          <a:p>
            <a:r>
              <a:rPr lang="ko-KR" altLang="en-US" dirty="0">
                <a:ea typeface="Microsoft GothicNeo"/>
                <a:cs typeface="Microsoft GothicNeo"/>
              </a:rPr>
              <a:t>                </a:t>
            </a:r>
            <a:r>
              <a:rPr lang="ko-KR" altLang="en-US" dirty="0" err="1">
                <a:ea typeface="Microsoft GothicNeo"/>
                <a:cs typeface="Microsoft GothicNeo"/>
              </a:rPr>
              <a:t>박효인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EBD83C-D653-7B6E-791C-91DC49F82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1264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8B09CB6-CBCC-A221-E35E-4FA215926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1696" y="4617503"/>
            <a:ext cx="6071583" cy="45719"/>
          </a:xfrm>
          <a:custGeom>
            <a:avLst/>
            <a:gdLst>
              <a:gd name="connsiteX0" fmla="*/ 0 w 6071583"/>
              <a:gd name="connsiteY0" fmla="*/ 0 h 45719"/>
              <a:gd name="connsiteX1" fmla="*/ 3434358 w 6071583"/>
              <a:gd name="connsiteY1" fmla="*/ 0 h 45719"/>
              <a:gd name="connsiteX2" fmla="*/ 4667593 w 6071583"/>
              <a:gd name="connsiteY2" fmla="*/ 0 h 45719"/>
              <a:gd name="connsiteX3" fmla="*/ 6071583 w 6071583"/>
              <a:gd name="connsiteY3" fmla="*/ 0 h 45719"/>
              <a:gd name="connsiteX4" fmla="*/ 6071583 w 6071583"/>
              <a:gd name="connsiteY4" fmla="*/ 45719 h 45719"/>
              <a:gd name="connsiteX5" fmla="*/ 4667593 w 6071583"/>
              <a:gd name="connsiteY5" fmla="*/ 45719 h 45719"/>
              <a:gd name="connsiteX6" fmla="*/ 3434358 w 6071583"/>
              <a:gd name="connsiteY6" fmla="*/ 45719 h 45719"/>
              <a:gd name="connsiteX7" fmla="*/ 0 w 6071583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71583" h="45719">
                <a:moveTo>
                  <a:pt x="0" y="0"/>
                </a:moveTo>
                <a:lnTo>
                  <a:pt x="3434358" y="0"/>
                </a:lnTo>
                <a:lnTo>
                  <a:pt x="4667593" y="0"/>
                </a:lnTo>
                <a:lnTo>
                  <a:pt x="6071583" y="0"/>
                </a:lnTo>
                <a:lnTo>
                  <a:pt x="6071583" y="45719"/>
                </a:lnTo>
                <a:lnTo>
                  <a:pt x="4667593" y="45719"/>
                </a:lnTo>
                <a:lnTo>
                  <a:pt x="3434358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B0250-E426-D86D-161E-A31CB30E6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Microsoft GothicNeo"/>
                <a:cs typeface="Microsoft GothicNeo"/>
              </a:rPr>
              <a:t>목차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DD5A0-C267-D7D9-5598-B6E1815663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109728" tIns="109728" rIns="109728" bIns="91440" anchor="t"/>
          <a:lstStyle/>
          <a:p>
            <a:r>
              <a:rPr lang="ko-KR" altLang="en-US" dirty="0">
                <a:ea typeface="Microsoft GothicNeo"/>
                <a:cs typeface="Microsoft GothicNeo"/>
              </a:rPr>
              <a:t>프로젝트 목표 및 개요</a:t>
            </a:r>
          </a:p>
          <a:p>
            <a:r>
              <a:rPr lang="ko-KR" altLang="en-US" dirty="0">
                <a:ea typeface="Microsoft GothicNeo"/>
                <a:cs typeface="Microsoft GothicNeo"/>
              </a:rPr>
              <a:t>시스템 구성도</a:t>
            </a:r>
          </a:p>
          <a:p>
            <a:r>
              <a:rPr lang="ko-KR" altLang="en-US" dirty="0">
                <a:ea typeface="Microsoft GothicNeo"/>
                <a:cs typeface="Microsoft GothicNeo"/>
              </a:rPr>
              <a:t>진행 상황</a:t>
            </a:r>
          </a:p>
          <a:p>
            <a:r>
              <a:rPr lang="ko-KR" altLang="en-US" dirty="0">
                <a:ea typeface="Microsoft GothicNeo"/>
                <a:cs typeface="Microsoft GothicNeo"/>
              </a:rPr>
              <a:t>문제점 해결 및 방안</a:t>
            </a:r>
          </a:p>
          <a:p>
            <a:r>
              <a:rPr lang="ko-KR" altLang="en-US" dirty="0">
                <a:ea typeface="Microsoft GothicNeo"/>
                <a:cs typeface="Microsoft GothicNeo"/>
              </a:rPr>
              <a:t>향후 계획</a:t>
            </a:r>
          </a:p>
          <a:p>
            <a:r>
              <a:rPr lang="ko-KR" altLang="en-US" dirty="0">
                <a:ea typeface="Microsoft GothicNeo"/>
                <a:cs typeface="Microsoft GothicNeo"/>
              </a:rPr>
              <a:t>질의 응답</a:t>
            </a:r>
          </a:p>
          <a:p>
            <a:endParaRPr lang="ko-KR" altLang="en-US" dirty="0">
              <a:ea typeface="Microsoft GothicNeo"/>
              <a:cs typeface="Microsoft GothicNeo"/>
            </a:endParaRPr>
          </a:p>
        </p:txBody>
      </p:sp>
    </p:spTree>
    <p:extLst>
      <p:ext uri="{BB962C8B-B14F-4D97-AF65-F5344CB8AC3E}">
        <p14:creationId xmlns:p14="http://schemas.microsoft.com/office/powerpoint/2010/main" val="3684307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75EAFFD-4A47-DD53-4F76-BD457E18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EEA7D1-2543-8F70-5351-63E750447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526971" cy="1178617"/>
          </a:xfrm>
        </p:spPr>
        <p:txBody>
          <a:bodyPr anchor="b">
            <a:normAutofit/>
          </a:bodyPr>
          <a:lstStyle/>
          <a:p>
            <a:r>
              <a:rPr lang="ko-KR" altLang="en-US" sz="4000" dirty="0">
                <a:ea typeface="Microsoft GothicNeo"/>
                <a:cs typeface="Microsoft GothicNeo"/>
              </a:rPr>
              <a:t>프로젝트 목표 </a:t>
            </a:r>
            <a:endParaRPr lang="ko-KR" altLang="en-US" sz="400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CC1FECC-9CA4-341C-7E20-4728C5147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7BFE783-36FC-CD4E-0FB2-1DFF89178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484455"/>
            <a:ext cx="4473879" cy="3860187"/>
          </a:xfrm>
        </p:spPr>
        <p:txBody>
          <a:bodyPr lIns="109728" tIns="109728" rIns="109728" bIns="91440" anchor="t">
            <a:normAutofit lnSpcReduction="10000"/>
          </a:bodyPr>
          <a:lstStyle/>
          <a:p>
            <a:r>
              <a:rPr lang="en-US" dirty="0" err="1">
                <a:latin typeface="Gulim"/>
                <a:ea typeface="Gulim"/>
                <a:cs typeface="Microsoft GothicNeo"/>
              </a:rPr>
              <a:t>현실과</a:t>
            </a:r>
            <a:r>
              <a:rPr lang="en-US" dirty="0">
                <a:latin typeface="Gulim"/>
                <a:ea typeface="Gulim"/>
                <a:cs typeface="Microsoft GothicNeo"/>
              </a:rPr>
              <a:t> </a:t>
            </a:r>
            <a:r>
              <a:rPr lang="en-US" dirty="0" err="1">
                <a:latin typeface="Gulim"/>
                <a:ea typeface="Gulim"/>
                <a:cs typeface="Microsoft GothicNeo"/>
              </a:rPr>
              <a:t>가상의</a:t>
            </a:r>
            <a:r>
              <a:rPr lang="en-US" dirty="0">
                <a:latin typeface="Gulim"/>
                <a:ea typeface="Gulim"/>
                <a:cs typeface="Microsoft GothicNeo"/>
              </a:rPr>
              <a:t> </a:t>
            </a:r>
            <a:r>
              <a:rPr lang="en-US" dirty="0" err="1">
                <a:latin typeface="Gulim"/>
                <a:ea typeface="Gulim"/>
                <a:cs typeface="Microsoft GothicNeo"/>
              </a:rPr>
              <a:t>경계가</a:t>
            </a:r>
            <a:r>
              <a:rPr lang="en-US" dirty="0">
                <a:latin typeface="Gulim"/>
                <a:ea typeface="Gulim"/>
                <a:cs typeface="Microsoft GothicNeo"/>
              </a:rPr>
              <a:t> </a:t>
            </a:r>
            <a:r>
              <a:rPr lang="en-US" dirty="0" err="1">
                <a:latin typeface="Gulim"/>
                <a:ea typeface="Gulim"/>
                <a:cs typeface="Microsoft GothicNeo"/>
              </a:rPr>
              <a:t>없는</a:t>
            </a:r>
            <a:r>
              <a:rPr lang="en-US" dirty="0">
                <a:latin typeface="Gulim"/>
                <a:ea typeface="Gulim"/>
                <a:cs typeface="Microsoft GothicNeo"/>
              </a:rPr>
              <a:t> </a:t>
            </a:r>
            <a:r>
              <a:rPr lang="en-US" dirty="0" err="1">
                <a:latin typeface="Gulim"/>
                <a:ea typeface="Gulim"/>
                <a:cs typeface="Microsoft GothicNeo"/>
              </a:rPr>
              <a:t>몰입감</a:t>
            </a:r>
            <a:r>
              <a:rPr lang="en-US" dirty="0">
                <a:latin typeface="Gulim"/>
                <a:ea typeface="Gulim"/>
                <a:cs typeface="Microsoft GothicNeo"/>
              </a:rPr>
              <a:t> </a:t>
            </a:r>
            <a:r>
              <a:rPr lang="en-US" dirty="0" err="1">
                <a:latin typeface="Gulim"/>
                <a:ea typeface="Gulim"/>
                <a:cs typeface="Microsoft GothicNeo"/>
              </a:rPr>
              <a:t>제공</a:t>
            </a:r>
            <a:endParaRPr lang="ko-KR" altLang="en-US" dirty="0" err="1"/>
          </a:p>
          <a:p>
            <a:endParaRPr lang="en-US" dirty="0">
              <a:latin typeface="Gulim"/>
              <a:ea typeface="Gulim"/>
              <a:cs typeface="Microsoft GothicNeo"/>
            </a:endParaRPr>
          </a:p>
          <a:p>
            <a:r>
              <a:rPr lang="en-US" dirty="0" err="1">
                <a:latin typeface="Gulim"/>
                <a:ea typeface="Gulim"/>
                <a:cs typeface="Microsoft GothicNeo"/>
              </a:rPr>
              <a:t>다양한</a:t>
            </a:r>
            <a:r>
              <a:rPr lang="en-US" dirty="0">
                <a:latin typeface="Gulim"/>
                <a:ea typeface="Gulim"/>
                <a:cs typeface="Microsoft GothicNeo"/>
              </a:rPr>
              <a:t> </a:t>
            </a:r>
            <a:r>
              <a:rPr lang="en-US" dirty="0" err="1">
                <a:latin typeface="Gulim"/>
                <a:ea typeface="Gulim"/>
                <a:cs typeface="Microsoft GothicNeo"/>
              </a:rPr>
              <a:t>몬스터와</a:t>
            </a:r>
            <a:r>
              <a:rPr lang="en-US" dirty="0">
                <a:latin typeface="Gulim"/>
                <a:ea typeface="Gulim"/>
                <a:cs typeface="Microsoft GothicNeo"/>
              </a:rPr>
              <a:t> </a:t>
            </a:r>
            <a:r>
              <a:rPr lang="en-US" dirty="0" err="1">
                <a:latin typeface="Gulim"/>
                <a:ea typeface="Gulim"/>
                <a:cs typeface="Microsoft GothicNeo"/>
              </a:rPr>
              <a:t>전투</a:t>
            </a:r>
            <a:r>
              <a:rPr lang="en-US" dirty="0">
                <a:latin typeface="Gulim"/>
                <a:ea typeface="Gulim"/>
                <a:cs typeface="Microsoft GothicNeo"/>
              </a:rPr>
              <a:t> </a:t>
            </a:r>
            <a:r>
              <a:rPr lang="en-US" dirty="0" err="1">
                <a:latin typeface="Gulim"/>
                <a:ea typeface="Gulim"/>
                <a:cs typeface="Microsoft GothicNeo"/>
              </a:rPr>
              <a:t>전략</a:t>
            </a:r>
            <a:r>
              <a:rPr lang="en-US" dirty="0">
                <a:latin typeface="Gulim"/>
                <a:ea typeface="Gulim"/>
                <a:cs typeface="Microsoft GothicNeo"/>
              </a:rPr>
              <a:t> </a:t>
            </a:r>
            <a:r>
              <a:rPr lang="en-US" dirty="0" err="1">
                <a:latin typeface="Gulim"/>
                <a:ea typeface="Gulim"/>
                <a:cs typeface="Microsoft GothicNeo"/>
              </a:rPr>
              <a:t>설계</a:t>
            </a:r>
            <a:endParaRPr lang="en-US" altLang="ko-KR">
              <a:ea typeface="Microsoft GothicNeo"/>
              <a:cs typeface="Microsoft GothicNeo"/>
            </a:endParaRPr>
          </a:p>
          <a:p>
            <a:endParaRPr lang="en-US" dirty="0">
              <a:latin typeface="Gulim"/>
              <a:ea typeface="Gulim"/>
              <a:cs typeface="Microsoft GothicNeo"/>
            </a:endParaRPr>
          </a:p>
          <a:p>
            <a:r>
              <a:rPr lang="en-US" err="1">
                <a:latin typeface="Gulim"/>
                <a:ea typeface="Gulim"/>
                <a:cs typeface="Microsoft GothicNeo"/>
              </a:rPr>
              <a:t>탐험과</a:t>
            </a:r>
            <a:r>
              <a:rPr lang="en-US" dirty="0">
                <a:latin typeface="Gulim"/>
                <a:ea typeface="Gulim"/>
                <a:cs typeface="Microsoft GothicNeo"/>
              </a:rPr>
              <a:t> </a:t>
            </a:r>
            <a:r>
              <a:rPr lang="en-US" err="1">
                <a:latin typeface="Gulim"/>
                <a:ea typeface="Gulim"/>
                <a:cs typeface="Microsoft GothicNeo"/>
              </a:rPr>
              <a:t>모험</a:t>
            </a:r>
            <a:r>
              <a:rPr lang="en-US" dirty="0">
                <a:latin typeface="Gulim"/>
                <a:ea typeface="Gulim"/>
                <a:cs typeface="Microsoft GothicNeo"/>
              </a:rPr>
              <a:t> </a:t>
            </a:r>
            <a:r>
              <a:rPr lang="en-US" err="1">
                <a:latin typeface="Gulim"/>
                <a:ea typeface="Gulim"/>
                <a:cs typeface="Microsoft GothicNeo"/>
              </a:rPr>
              <a:t>요소</a:t>
            </a:r>
            <a:r>
              <a:rPr lang="en-US" dirty="0">
                <a:latin typeface="Gulim"/>
                <a:ea typeface="Gulim"/>
                <a:cs typeface="Microsoft GothicNeo"/>
              </a:rPr>
              <a:t> </a:t>
            </a:r>
            <a:r>
              <a:rPr lang="en-US" err="1">
                <a:latin typeface="Gulim"/>
                <a:ea typeface="Gulim"/>
                <a:cs typeface="Microsoft GothicNeo"/>
              </a:rPr>
              <a:t>강화</a:t>
            </a:r>
            <a:endParaRPr lang="en-US" altLang="ko-KR">
              <a:ea typeface="Microsoft GothicNeo"/>
              <a:cs typeface="Microsoft GothicNeo"/>
            </a:endParaRPr>
          </a:p>
          <a:p>
            <a:endParaRPr lang="ko-KR" altLang="en-US" dirty="0">
              <a:latin typeface="Gulim"/>
              <a:ea typeface="Gulim"/>
              <a:cs typeface="Microsoft GothicNeo"/>
            </a:endParaRPr>
          </a:p>
          <a:p>
            <a:r>
              <a:rPr lang="ko-KR" altLang="en-US" dirty="0">
                <a:latin typeface="Gulim"/>
                <a:ea typeface="Gulim"/>
                <a:cs typeface="Microsoft GothicNeo"/>
              </a:rPr>
              <a:t>성취감과</a:t>
            </a:r>
            <a:r>
              <a:rPr lang="en-US" altLang="ko-KR" dirty="0">
                <a:latin typeface="Gulim"/>
                <a:ea typeface="Gulim"/>
                <a:cs typeface="Microsoft GothicNeo"/>
              </a:rPr>
              <a:t> </a:t>
            </a:r>
            <a:r>
              <a:rPr lang="ko-KR" altLang="en-US" dirty="0">
                <a:latin typeface="Gulim"/>
                <a:ea typeface="Gulim"/>
                <a:cs typeface="Microsoft GothicNeo"/>
              </a:rPr>
              <a:t>보상</a:t>
            </a:r>
            <a:r>
              <a:rPr lang="en-US" altLang="ko-KR" dirty="0">
                <a:latin typeface="Gulim"/>
                <a:ea typeface="Gulim"/>
                <a:cs typeface="Microsoft GothicNeo"/>
              </a:rPr>
              <a:t> </a:t>
            </a:r>
            <a:r>
              <a:rPr lang="ko-KR" altLang="en-US" dirty="0">
                <a:latin typeface="Gulim"/>
                <a:ea typeface="Gulim"/>
                <a:cs typeface="Microsoft GothicNeo"/>
              </a:rPr>
              <a:t>시스템</a:t>
            </a:r>
            <a:r>
              <a:rPr lang="en-US" altLang="ko-KR" dirty="0">
                <a:latin typeface="Gulim"/>
                <a:ea typeface="Gulim"/>
                <a:cs typeface="Microsoft GothicNeo"/>
              </a:rPr>
              <a:t> </a:t>
            </a:r>
            <a:r>
              <a:rPr lang="ko-KR" altLang="en-US" dirty="0">
                <a:latin typeface="Gulim"/>
                <a:ea typeface="Gulim"/>
                <a:cs typeface="Microsoft GothicNeo"/>
              </a:rPr>
              <a:t>설계</a:t>
            </a:r>
            <a:endParaRPr lang="en-US">
              <a:latin typeface="Gulim"/>
              <a:ea typeface="Gulim"/>
              <a:cs typeface="Microsoft GothicNeo"/>
            </a:endParaRPr>
          </a:p>
          <a:p>
            <a:endParaRPr lang="en-US" dirty="0">
              <a:latin typeface="Gulim"/>
              <a:ea typeface="Gulim"/>
              <a:cs typeface="Microsoft GothicNeo"/>
            </a:endParaRPr>
          </a:p>
          <a:p>
            <a:endParaRPr lang="en-US" dirty="0">
              <a:latin typeface="Gulim"/>
              <a:ea typeface="Gulim"/>
              <a:cs typeface="Microsoft GothicNeo"/>
            </a:endParaRPr>
          </a:p>
          <a:p>
            <a:endParaRPr lang="en-US" altLang="ko-KR" dirty="0">
              <a:ea typeface="Microsoft GothicNeo"/>
              <a:cs typeface="Microsoft GothicNeo"/>
            </a:endParaRPr>
          </a:p>
          <a:p>
            <a:endParaRPr lang="en-US" altLang="ko-KR" dirty="0">
              <a:ea typeface="Microsoft GothicNeo"/>
              <a:cs typeface="Microsoft GothicNeo"/>
            </a:endParaRPr>
          </a:p>
        </p:txBody>
      </p:sp>
      <p:pic>
        <p:nvPicPr>
          <p:cNvPr id="4" name="Content Placeholder 3" descr="스크린샷, PC 게임, 만화 영화, 디지털 합성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112487E-501D-5409-58B6-3382F302E4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642" r="9879" b="-1"/>
          <a:stretch>
            <a:fillRect/>
          </a:stretch>
        </p:blipFill>
        <p:spPr>
          <a:xfrm>
            <a:off x="5284557" y="980825"/>
            <a:ext cx="6386235" cy="5365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615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23A85-BE81-1AEF-579E-DA20FE7E8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738326"/>
            <a:ext cx="11155680" cy="1463040"/>
          </a:xfrm>
        </p:spPr>
        <p:txBody>
          <a:bodyPr/>
          <a:lstStyle/>
          <a:p>
            <a:r>
              <a:rPr lang="ko-KR" sz="4000" b="0" dirty="0">
                <a:ea typeface="Microsoft GothicNeo"/>
                <a:cs typeface="Microsoft GothicNeo"/>
              </a:rPr>
              <a:t>시스템 구성도</a:t>
            </a:r>
            <a:endParaRPr lang="ko-KR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13808-5948-25ED-3524-C103BFFF0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472142"/>
            <a:ext cx="11155680" cy="3767328"/>
          </a:xfrm>
        </p:spPr>
        <p:txBody>
          <a:bodyPr lIns="109728" tIns="109728" rIns="109728" bIns="91440" anchor="t"/>
          <a:lstStyle/>
          <a:p>
            <a:pPr marL="0" indent="0">
              <a:buNone/>
            </a:pPr>
            <a:r>
              <a:rPr lang="en-US" altLang="ko-KR" b="1" dirty="0">
                <a:ea typeface="+mn-lt"/>
                <a:cs typeface="+mn-lt"/>
              </a:rPr>
              <a:t>1.</a:t>
            </a:r>
            <a:r>
              <a:rPr lang="ko-KR" b="1" dirty="0">
                <a:ea typeface="+mn-lt"/>
                <a:cs typeface="+mn-lt"/>
              </a:rPr>
              <a:t>사용자 단말 (스마트폰)</a:t>
            </a:r>
            <a:endParaRPr lang="ko-KR" altLang="en-US" dirty="0">
              <a:ea typeface="Microsoft GothicNeo"/>
              <a:cs typeface="Microsoft GothicNeo"/>
            </a:endParaRPr>
          </a:p>
          <a:p>
            <a:r>
              <a:rPr lang="ko-KR" dirty="0">
                <a:ea typeface="+mn-lt"/>
                <a:cs typeface="+mn-lt"/>
              </a:rPr>
              <a:t>AR 기능 및 FPS UI 렌더링</a:t>
            </a:r>
            <a:endParaRPr lang="ko-KR" dirty="0"/>
          </a:p>
          <a:p>
            <a:r>
              <a:rPr lang="ko-KR" dirty="0">
                <a:ea typeface="+mn-lt"/>
                <a:cs typeface="+mn-lt"/>
              </a:rPr>
              <a:t>유저 입력 처리 (터치)</a:t>
            </a:r>
            <a:endParaRPr lang="ko-KR" dirty="0"/>
          </a:p>
          <a:p>
            <a:r>
              <a:rPr lang="ko-KR" dirty="0">
                <a:ea typeface="+mn-lt"/>
                <a:cs typeface="+mn-lt"/>
              </a:rPr>
              <a:t>카메라를 통한 실시간 영상 캡처 및 처리</a:t>
            </a:r>
            <a:endParaRPr lang="ko-KR" dirty="0"/>
          </a:p>
          <a:p>
            <a:pPr marL="0" indent="0">
              <a:buNone/>
            </a:pPr>
            <a:r>
              <a:rPr lang="en-US" altLang="ko-KR" b="1" dirty="0">
                <a:ea typeface="+mn-lt"/>
                <a:cs typeface="+mn-lt"/>
              </a:rPr>
              <a:t>2.</a:t>
            </a:r>
            <a:r>
              <a:rPr lang="ko-KR" b="1" dirty="0">
                <a:ea typeface="+mn-lt"/>
                <a:cs typeface="+mn-lt"/>
              </a:rPr>
              <a:t>게임 클라이언트</a:t>
            </a:r>
            <a:endParaRPr lang="ko-KR" dirty="0">
              <a:ea typeface="Microsoft GothicNeo"/>
              <a:cs typeface="Microsoft GothicNeo"/>
            </a:endParaRPr>
          </a:p>
          <a:p>
            <a:r>
              <a:rPr lang="ko-KR" dirty="0">
                <a:ea typeface="+mn-lt"/>
                <a:cs typeface="+mn-lt"/>
              </a:rPr>
              <a:t>몬스터 생성 및 배치 로직</a:t>
            </a:r>
            <a:endParaRPr lang="ko-KR" dirty="0"/>
          </a:p>
          <a:p>
            <a:r>
              <a:rPr lang="ko-KR" dirty="0">
                <a:ea typeface="+mn-lt"/>
                <a:cs typeface="+mn-lt"/>
              </a:rPr>
              <a:t>무기 발사 및 충돌 판정 처리</a:t>
            </a:r>
            <a:endParaRPr lang="ko-KR" dirty="0"/>
          </a:p>
          <a:p>
            <a:r>
              <a:rPr lang="ko-KR" dirty="0">
                <a:ea typeface="+mn-lt"/>
                <a:cs typeface="+mn-lt"/>
              </a:rPr>
              <a:t>UI</a:t>
            </a:r>
            <a:r>
              <a:rPr lang="ko-KR" altLang="en-US" dirty="0">
                <a:ea typeface="+mn-lt"/>
                <a:cs typeface="+mn-lt"/>
              </a:rPr>
              <a:t> </a:t>
            </a:r>
            <a:r>
              <a:rPr lang="ko-KR" dirty="0">
                <a:ea typeface="+mn-lt"/>
                <a:cs typeface="+mn-lt"/>
              </a:rPr>
              <a:t> 표시</a:t>
            </a:r>
            <a:endParaRPr lang="ko-KR" dirty="0"/>
          </a:p>
          <a:p>
            <a:pPr marL="0" indent="0">
              <a:buNone/>
            </a:pPr>
            <a:r>
              <a:rPr lang="en-US" altLang="ko-KR" b="1" dirty="0">
                <a:ea typeface="+mn-lt"/>
                <a:cs typeface="+mn-lt"/>
              </a:rPr>
              <a:t>3.</a:t>
            </a:r>
            <a:r>
              <a:rPr lang="ko-KR" b="1" dirty="0">
                <a:ea typeface="+mn-lt"/>
                <a:cs typeface="+mn-lt"/>
              </a:rPr>
              <a:t>AR 모듈 (</a:t>
            </a:r>
            <a:r>
              <a:rPr lang="ko-KR" b="1" dirty="0" err="1">
                <a:ea typeface="+mn-lt"/>
                <a:cs typeface="+mn-lt"/>
              </a:rPr>
              <a:t>ARCore</a:t>
            </a:r>
            <a:r>
              <a:rPr lang="ko-KR" b="1" dirty="0">
                <a:ea typeface="+mn-lt"/>
                <a:cs typeface="+mn-lt"/>
              </a:rPr>
              <a:t>/</a:t>
            </a:r>
            <a:r>
              <a:rPr lang="ko-KR" b="1" dirty="0" err="1">
                <a:ea typeface="+mn-lt"/>
                <a:cs typeface="+mn-lt"/>
              </a:rPr>
              <a:t>ARKit</a:t>
            </a:r>
            <a:r>
              <a:rPr lang="ko-KR" b="1" dirty="0">
                <a:ea typeface="+mn-lt"/>
                <a:cs typeface="+mn-lt"/>
              </a:rPr>
              <a:t>)</a:t>
            </a:r>
            <a:endParaRPr lang="ko-KR" dirty="0">
              <a:ea typeface="Microsoft GothicNeo"/>
              <a:cs typeface="Microsoft GothicNeo"/>
            </a:endParaRPr>
          </a:p>
          <a:p>
            <a:r>
              <a:rPr lang="ko-KR" dirty="0">
                <a:ea typeface="+mn-lt"/>
                <a:cs typeface="+mn-lt"/>
              </a:rPr>
              <a:t>공간 매핑 및 평면 인식</a:t>
            </a:r>
            <a:endParaRPr lang="ko-KR" dirty="0"/>
          </a:p>
          <a:p>
            <a:r>
              <a:rPr lang="ko-KR" dirty="0">
                <a:ea typeface="+mn-lt"/>
                <a:cs typeface="+mn-lt"/>
              </a:rPr>
              <a:t>현실 세계와 가상 오브젝트의 정합성 유지</a:t>
            </a:r>
            <a:endParaRPr lang="ko-KR" dirty="0"/>
          </a:p>
          <a:p>
            <a:endParaRPr lang="ko-KR" altLang="en-US" dirty="0">
              <a:ea typeface="Microsoft GothicNeo"/>
              <a:cs typeface="Microsoft GothicNeo"/>
            </a:endParaRPr>
          </a:p>
        </p:txBody>
      </p:sp>
    </p:spTree>
    <p:extLst>
      <p:ext uri="{BB962C8B-B14F-4D97-AF65-F5344CB8AC3E}">
        <p14:creationId xmlns:p14="http://schemas.microsoft.com/office/powerpoint/2010/main" val="1031558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D381A0-5FC4-FC41-BFD3-9E5B0B234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Microsoft GothicNeo"/>
                <a:cs typeface="Microsoft GothicNeo"/>
              </a:rPr>
              <a:t>진행 상황</a:t>
            </a:r>
            <a:endParaRPr lang="ko-KR" altLang="en-US" dirty="0"/>
          </a:p>
        </p:txBody>
      </p:sp>
      <p:pic>
        <p:nvPicPr>
          <p:cNvPr id="4" name="내용 개체 틀 3" descr="스크린샷, 하늘, 멀티미디어, 사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2BFBC48-12DA-C3BA-C96B-E20AE7904D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1870" y="1900851"/>
            <a:ext cx="5391151" cy="3048000"/>
          </a:xfrm>
          <a:prstGeom prst="rect">
            <a:avLst/>
          </a:prstGeom>
        </p:spPr>
      </p:pic>
      <p:pic>
        <p:nvPicPr>
          <p:cNvPr id="5" name="그림 4" descr="텍스트, 스크린샷, 폰트, 멀티미디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5481D1D-9E17-73E9-24A4-CB4993F295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182" y="1900237"/>
            <a:ext cx="5601274" cy="30483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A45AC3F-5209-8B4A-853B-0FEC28A2311A}"/>
              </a:ext>
            </a:extLst>
          </p:cNvPr>
          <p:cNvSpPr txBox="1"/>
          <p:nvPr/>
        </p:nvSpPr>
        <p:spPr>
          <a:xfrm>
            <a:off x="350921" y="5133473"/>
            <a:ext cx="1126957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>
                <a:ea typeface="Microsoft GothicNeo"/>
                <a:cs typeface="Microsoft GothicNeo"/>
              </a:rPr>
              <a:t>                          </a:t>
            </a:r>
            <a:r>
              <a:rPr lang="ko-KR" altLang="en-US" dirty="0" err="1">
                <a:ea typeface="Microsoft GothicNeo"/>
                <a:cs typeface="Microsoft GothicNeo"/>
              </a:rPr>
              <a:t>인게임</a:t>
            </a:r>
            <a:r>
              <a:rPr lang="ko-KR" altLang="en-US" dirty="0">
                <a:ea typeface="Microsoft GothicNeo"/>
                <a:cs typeface="Microsoft GothicNeo"/>
              </a:rPr>
              <a:t> 화면                                                                           일시정지 화면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73854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83648-F156-DA51-059D-E33076E6A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32B69E-6DEB-606F-D828-E2FC61629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Microsoft GothicNeo"/>
                <a:cs typeface="Microsoft GothicNeo"/>
              </a:rPr>
              <a:t>진행 상황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970930-0B8B-488C-CC01-93C834B5E16E}"/>
              </a:ext>
            </a:extLst>
          </p:cNvPr>
          <p:cNvSpPr txBox="1"/>
          <p:nvPr/>
        </p:nvSpPr>
        <p:spPr>
          <a:xfrm>
            <a:off x="350921" y="5133473"/>
            <a:ext cx="1126957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>
                <a:ea typeface="Microsoft GothicNeo"/>
                <a:cs typeface="Microsoft GothicNeo"/>
              </a:rPr>
              <a:t>                          로비 화면                                                                           스테이지 선택 화면</a:t>
            </a:r>
            <a:endParaRPr lang="ko-KR" altLang="en-US" dirty="0"/>
          </a:p>
        </p:txBody>
      </p:sp>
      <p:pic>
        <p:nvPicPr>
          <p:cNvPr id="8" name="내용 개체 틀 7" descr="스크린샷, 텍스트, 그래픽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F2CC972-A269-B4CA-88BF-B5E955CD94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2201" y="1890981"/>
            <a:ext cx="5006249" cy="3086100"/>
          </a:xfrm>
          <a:prstGeom prst="rect">
            <a:avLst/>
          </a:prstGeom>
        </p:spPr>
      </p:pic>
      <p:pic>
        <p:nvPicPr>
          <p:cNvPr id="9" name="그림 8" descr="스크린샷, 도표, 디자인, 흑백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F8F1ABE-7A03-EBF2-4FF3-4C1D98EF98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241" y="1887672"/>
            <a:ext cx="5003494" cy="3091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825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C4DA60-8144-D812-6595-A0E618145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Microsoft GothicNeo"/>
                <a:cs typeface="Microsoft GothicNeo"/>
              </a:rPr>
              <a:t>문제점 해결 및 방안</a:t>
            </a:r>
            <a:endParaRPr lang="ko-KR" altLang="en-US" dirty="0"/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65B6F21E-43A9-F967-EE0D-C2FFADE302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02965" y="2438668"/>
            <a:ext cx="361950" cy="4667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14AAA2-C69D-A69A-4376-871B604BDD10}"/>
              </a:ext>
            </a:extLst>
          </p:cNvPr>
          <p:cNvSpPr txBox="1"/>
          <p:nvPr/>
        </p:nvSpPr>
        <p:spPr>
          <a:xfrm>
            <a:off x="424124" y="2434583"/>
            <a:ext cx="8161421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>
                <a:ea typeface="Microsoft GothicNeo"/>
                <a:cs typeface="Microsoft GothicNeo"/>
              </a:rPr>
              <a:t>몬스터 </a:t>
            </a:r>
            <a:r>
              <a:rPr lang="ko-KR" altLang="en-US" dirty="0" err="1">
                <a:ea typeface="Microsoft GothicNeo"/>
                <a:cs typeface="Microsoft GothicNeo"/>
              </a:rPr>
              <a:t>에셋들과</a:t>
            </a:r>
            <a:r>
              <a:rPr lang="ko-KR" altLang="en-US" dirty="0">
                <a:ea typeface="Microsoft GothicNeo"/>
                <a:cs typeface="Microsoft GothicNeo"/>
              </a:rPr>
              <a:t> UI </a:t>
            </a:r>
            <a:r>
              <a:rPr lang="ko-KR" altLang="en-US" dirty="0" err="1">
                <a:ea typeface="Microsoft GothicNeo"/>
                <a:cs typeface="Microsoft GothicNeo"/>
              </a:rPr>
              <a:t>를</a:t>
            </a:r>
            <a:r>
              <a:rPr lang="ko-KR" altLang="en-US" dirty="0">
                <a:ea typeface="Microsoft GothicNeo"/>
                <a:cs typeface="Microsoft GothicNeo"/>
              </a:rPr>
              <a:t> 합치며 빌드하는 과정에서</a:t>
            </a:r>
            <a:br>
              <a:rPr lang="ko-KR" altLang="en-US" dirty="0">
                <a:ea typeface="Microsoft GothicNeo"/>
                <a:cs typeface="Microsoft GothicNeo"/>
              </a:rPr>
            </a:br>
            <a:r>
              <a:rPr lang="ko-KR" altLang="en-US" dirty="0">
                <a:ea typeface="Microsoft GothicNeo"/>
                <a:cs typeface="Microsoft GothicNeo"/>
              </a:rPr>
              <a:t>컴파일 오류 발생</a:t>
            </a:r>
            <a:br>
              <a:rPr lang="ko-KR" altLang="en-US" dirty="0">
                <a:ea typeface="Microsoft GothicNeo"/>
                <a:cs typeface="Microsoft GothicNeo"/>
              </a:rPr>
            </a:br>
            <a:r>
              <a:rPr lang="ko-KR" altLang="en-US" dirty="0">
                <a:ea typeface="Microsoft GothicNeo"/>
                <a:cs typeface="Microsoft GothicNeo"/>
              </a:rPr>
              <a:t>--&gt; 합치는 과정에서 변수 명이 오류일 가능성이 커서 쉽게 수정 가능</a:t>
            </a:r>
            <a:br>
              <a:rPr lang="ko-KR" altLang="en-US" dirty="0">
                <a:ea typeface="Microsoft GothicNeo"/>
                <a:cs typeface="Microsoft GothicNeo"/>
              </a:rPr>
            </a:br>
            <a:br>
              <a:rPr lang="ko-KR" altLang="en-US" dirty="0">
                <a:ea typeface="Microsoft GothicNeo"/>
                <a:cs typeface="Microsoft GothicNeo"/>
              </a:rPr>
            </a:br>
            <a:br>
              <a:rPr lang="ko-KR" altLang="en-US" dirty="0">
                <a:ea typeface="Microsoft GothicNeo"/>
                <a:cs typeface="Microsoft GothicNeo"/>
              </a:rPr>
            </a:br>
            <a:br>
              <a:rPr lang="ko-KR" altLang="en-US" dirty="0">
                <a:ea typeface="Microsoft GothicNeo"/>
                <a:cs typeface="Microsoft GothicNeo"/>
              </a:rPr>
            </a:br>
            <a:endParaRPr lang="ko-KR" altLang="en-US" dirty="0">
              <a:ea typeface="Microsoft GothicNeo"/>
              <a:cs typeface="Microsoft GothicNeo"/>
            </a:endParaRPr>
          </a:p>
          <a:p>
            <a:endParaRPr lang="ko-KR" altLang="en-US" dirty="0">
              <a:ea typeface="Microsoft GothicNeo"/>
              <a:cs typeface="Microsoft GothicNeo"/>
            </a:endParaRPr>
          </a:p>
        </p:txBody>
      </p:sp>
    </p:spTree>
    <p:extLst>
      <p:ext uri="{BB962C8B-B14F-4D97-AF65-F5344CB8AC3E}">
        <p14:creationId xmlns:p14="http://schemas.microsoft.com/office/powerpoint/2010/main" val="3431263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24549-A4A5-C220-5222-764059FF9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Microsoft GothicNeo"/>
                <a:cs typeface="Microsoft GothicNeo"/>
              </a:rPr>
              <a:t>향후 계획</a:t>
            </a:r>
            <a:br>
              <a:rPr lang="ko-KR" altLang="en-US" dirty="0">
                <a:ea typeface="Microsoft GothicNeo"/>
                <a:cs typeface="Microsoft GothicNeo"/>
              </a:rPr>
            </a:br>
            <a:endParaRPr lang="ko-KR" altLang="en-US" dirty="0">
              <a:ea typeface="Microsoft GothicNeo"/>
              <a:cs typeface="Microsoft GothicNeo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D7FBF-515F-3AE8-7F93-86B75F4AF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910553"/>
            <a:ext cx="11155680" cy="3767328"/>
          </a:xfrm>
        </p:spPr>
        <p:txBody>
          <a:bodyPr lIns="109728" tIns="109728" rIns="109728" bIns="91440" anchor="t"/>
          <a:lstStyle/>
          <a:p>
            <a:pPr marL="0" indent="0">
              <a:buNone/>
            </a:pPr>
            <a:endParaRPr lang="en-US" altLang="ko-KR" sz="1100" dirty="0">
              <a:ea typeface="Microsoft GothicNeo"/>
              <a:cs typeface="Microsoft GothicNeo"/>
            </a:endParaRPr>
          </a:p>
          <a:p>
            <a:pPr marL="0" indent="0">
              <a:buNone/>
            </a:pPr>
            <a:endParaRPr lang="en-US" altLang="ko-KR" sz="1100" dirty="0">
              <a:ea typeface="Microsoft GothicNeo"/>
              <a:cs typeface="Microsoft GothicNeo"/>
            </a:endParaRPr>
          </a:p>
          <a:p>
            <a:pPr marL="0" indent="0">
              <a:buNone/>
            </a:pPr>
            <a:r>
              <a:rPr lang="en-US" altLang="ko-KR" sz="1100" dirty="0">
                <a:ea typeface="Microsoft GothicNeo"/>
                <a:cs typeface="Microsoft GothicNeo"/>
              </a:rPr>
              <a:t>UI </a:t>
            </a:r>
            <a:r>
              <a:rPr lang="en-US" altLang="ko-KR" sz="1100" dirty="0" err="1">
                <a:ea typeface="Microsoft GothicNeo"/>
                <a:cs typeface="Microsoft GothicNeo"/>
              </a:rPr>
              <a:t>파일과</a:t>
            </a:r>
            <a:r>
              <a:rPr lang="en-US" altLang="ko-KR" sz="1100" dirty="0">
                <a:ea typeface="Microsoft GothicNeo"/>
                <a:cs typeface="Microsoft GothicNeo"/>
              </a:rPr>
              <a:t> 인 </a:t>
            </a:r>
            <a:r>
              <a:rPr lang="en-US" altLang="ko-KR" sz="1100" dirty="0" err="1">
                <a:ea typeface="Microsoft GothicNeo"/>
                <a:cs typeface="Microsoft GothicNeo"/>
              </a:rPr>
              <a:t>게임</a:t>
            </a:r>
            <a:r>
              <a:rPr lang="en-US" altLang="ko-KR" sz="1100" dirty="0">
                <a:ea typeface="Microsoft GothicNeo"/>
                <a:cs typeface="Microsoft GothicNeo"/>
              </a:rPr>
              <a:t> </a:t>
            </a:r>
            <a:r>
              <a:rPr lang="en-US" altLang="ko-KR" sz="1100" dirty="0" err="1">
                <a:ea typeface="Microsoft GothicNeo"/>
                <a:cs typeface="Microsoft GothicNeo"/>
              </a:rPr>
              <a:t>파일을</a:t>
            </a:r>
            <a:r>
              <a:rPr lang="en-US" altLang="ko-KR" sz="1100" dirty="0">
                <a:ea typeface="Microsoft GothicNeo"/>
                <a:cs typeface="Microsoft GothicNeo"/>
              </a:rPr>
              <a:t> </a:t>
            </a:r>
            <a:r>
              <a:rPr lang="en-US" altLang="ko-KR" sz="1100" dirty="0" err="1">
                <a:ea typeface="Microsoft GothicNeo"/>
                <a:cs typeface="Microsoft GothicNeo"/>
              </a:rPr>
              <a:t>합치고</a:t>
            </a:r>
            <a:r>
              <a:rPr lang="en-US" altLang="ko-KR" sz="1100" dirty="0">
                <a:ea typeface="Microsoft GothicNeo"/>
                <a:cs typeface="Microsoft GothicNeo"/>
              </a:rPr>
              <a:t> </a:t>
            </a:r>
            <a:r>
              <a:rPr lang="en-US" altLang="ko-KR" sz="1100" dirty="0" err="1">
                <a:ea typeface="Microsoft GothicNeo"/>
                <a:cs typeface="Microsoft GothicNeo"/>
              </a:rPr>
              <a:t>빌드</a:t>
            </a:r>
            <a:r>
              <a:rPr lang="en-US" altLang="ko-KR" sz="1100" dirty="0">
                <a:ea typeface="Microsoft GothicNeo"/>
                <a:cs typeface="Microsoft GothicNeo"/>
              </a:rPr>
              <a:t> 후 </a:t>
            </a:r>
            <a:r>
              <a:rPr lang="en-US" altLang="ko-KR" sz="1100" dirty="0" err="1">
                <a:ea typeface="Microsoft GothicNeo"/>
                <a:cs typeface="Microsoft GothicNeo"/>
              </a:rPr>
              <a:t>테스트</a:t>
            </a:r>
            <a:r>
              <a:rPr lang="en-US" altLang="ko-KR" sz="1100" dirty="0">
                <a:ea typeface="Microsoft GothicNeo"/>
                <a:cs typeface="Microsoft GothicNeo"/>
              </a:rPr>
              <a:t> </a:t>
            </a:r>
            <a:r>
              <a:rPr lang="en-US" altLang="ko-KR" sz="1100" dirty="0" err="1">
                <a:ea typeface="Microsoft GothicNeo"/>
                <a:cs typeface="Microsoft GothicNeo"/>
              </a:rPr>
              <a:t>진행</a:t>
            </a:r>
            <a:br>
              <a:rPr lang="en-US" altLang="ko-KR" sz="1100" dirty="0">
                <a:ea typeface="Microsoft GothicNeo"/>
                <a:cs typeface="Microsoft GothicNeo"/>
              </a:rPr>
            </a:br>
            <a:r>
              <a:rPr lang="en-US" altLang="ko-KR" sz="1100" dirty="0">
                <a:ea typeface="Microsoft GothicNeo"/>
                <a:cs typeface="Microsoft GothicNeo"/>
              </a:rPr>
              <a:t> -&gt;</a:t>
            </a:r>
            <a:r>
              <a:rPr lang="en-US" altLang="ko-KR" sz="1100" dirty="0" err="1">
                <a:ea typeface="Microsoft GothicNeo"/>
                <a:cs typeface="Microsoft GothicNeo"/>
              </a:rPr>
              <a:t>버그가</a:t>
            </a:r>
            <a:r>
              <a:rPr lang="en-US" altLang="ko-KR" sz="1100" dirty="0">
                <a:ea typeface="Microsoft GothicNeo"/>
                <a:cs typeface="Microsoft GothicNeo"/>
              </a:rPr>
              <a:t> </a:t>
            </a:r>
            <a:r>
              <a:rPr lang="en-US" altLang="ko-KR" sz="1100" dirty="0" err="1">
                <a:ea typeface="Microsoft GothicNeo"/>
                <a:cs typeface="Microsoft GothicNeo"/>
              </a:rPr>
              <a:t>생기면</a:t>
            </a:r>
            <a:r>
              <a:rPr lang="en-US" altLang="ko-KR" sz="1100" dirty="0">
                <a:ea typeface="Microsoft GothicNeo"/>
                <a:cs typeface="Microsoft GothicNeo"/>
              </a:rPr>
              <a:t> </a:t>
            </a:r>
            <a:r>
              <a:rPr lang="en-US" altLang="ko-KR" sz="1100" dirty="0" err="1">
                <a:ea typeface="Microsoft GothicNeo"/>
                <a:cs typeface="Microsoft GothicNeo"/>
              </a:rPr>
              <a:t>컴파일</a:t>
            </a:r>
            <a:r>
              <a:rPr lang="en-US" altLang="ko-KR" sz="1100" dirty="0">
                <a:ea typeface="Microsoft GothicNeo"/>
                <a:cs typeface="Microsoft GothicNeo"/>
              </a:rPr>
              <a:t> </a:t>
            </a:r>
            <a:r>
              <a:rPr lang="en-US" altLang="ko-KR" sz="1100" dirty="0" err="1">
                <a:ea typeface="Microsoft GothicNeo"/>
                <a:cs typeface="Microsoft GothicNeo"/>
              </a:rPr>
              <a:t>오류</a:t>
            </a:r>
            <a:r>
              <a:rPr lang="en-US" altLang="ko-KR" sz="1100" dirty="0">
                <a:ea typeface="Microsoft GothicNeo"/>
                <a:cs typeface="Microsoft GothicNeo"/>
              </a:rPr>
              <a:t> </a:t>
            </a:r>
            <a:r>
              <a:rPr lang="en-US" altLang="ko-KR" sz="1100" dirty="0" err="1">
                <a:ea typeface="Microsoft GothicNeo"/>
                <a:cs typeface="Microsoft GothicNeo"/>
              </a:rPr>
              <a:t>확인</a:t>
            </a:r>
            <a:r>
              <a:rPr lang="en-US" altLang="ko-KR" sz="1100" dirty="0">
                <a:ea typeface="Microsoft GothicNeo"/>
                <a:cs typeface="Microsoft GothicNeo"/>
              </a:rPr>
              <a:t> 후 </a:t>
            </a:r>
            <a:r>
              <a:rPr lang="en-US" altLang="ko-KR" sz="1100" dirty="0" err="1">
                <a:ea typeface="Microsoft GothicNeo"/>
                <a:cs typeface="Microsoft GothicNeo"/>
              </a:rPr>
              <a:t>수정</a:t>
            </a:r>
            <a:endParaRPr lang="ko-KR">
              <a:ea typeface="Microsoft GothicNeo"/>
              <a:cs typeface="Microsoft GothicNeo"/>
            </a:endParaRPr>
          </a:p>
          <a:p>
            <a:pPr marL="0" indent="0">
              <a:buNone/>
            </a:pPr>
            <a:endParaRPr lang="en-US" altLang="ko-KR" sz="1100" dirty="0">
              <a:ea typeface="Microsoft GothicNeo"/>
              <a:cs typeface="Microsoft GothicNeo"/>
            </a:endParaRPr>
          </a:p>
          <a:p>
            <a:pPr marL="0" indent="0">
              <a:buNone/>
            </a:pPr>
            <a:r>
              <a:rPr lang="en-US" altLang="ko-KR" sz="1100" dirty="0" err="1">
                <a:ea typeface="Microsoft GothicNeo"/>
                <a:cs typeface="Microsoft GothicNeo"/>
              </a:rPr>
              <a:t>몬스터</a:t>
            </a:r>
            <a:r>
              <a:rPr lang="en-US" altLang="ko-KR" sz="1100" dirty="0">
                <a:ea typeface="Microsoft GothicNeo"/>
                <a:cs typeface="Microsoft GothicNeo"/>
              </a:rPr>
              <a:t> </a:t>
            </a:r>
            <a:r>
              <a:rPr lang="en-US" altLang="ko-KR" sz="1100" dirty="0" err="1">
                <a:ea typeface="Microsoft GothicNeo"/>
                <a:cs typeface="Microsoft GothicNeo"/>
              </a:rPr>
              <a:t>밸런싱</a:t>
            </a:r>
            <a:r>
              <a:rPr lang="en-US" altLang="ko-KR" sz="1100" dirty="0">
                <a:ea typeface="Microsoft GothicNeo"/>
                <a:cs typeface="Microsoft GothicNeo"/>
              </a:rPr>
              <a:t> </a:t>
            </a:r>
            <a:r>
              <a:rPr lang="en-US" altLang="ko-KR" sz="1100" dirty="0" err="1">
                <a:ea typeface="Microsoft GothicNeo"/>
                <a:cs typeface="Microsoft GothicNeo"/>
              </a:rPr>
              <a:t>패치</a:t>
            </a:r>
            <a:br>
              <a:rPr lang="en-US" altLang="ko-KR" sz="1100" dirty="0">
                <a:ea typeface="Microsoft GothicNeo"/>
                <a:cs typeface="Microsoft GothicNeo"/>
              </a:rPr>
            </a:br>
            <a:r>
              <a:rPr lang="en-US" altLang="ko-KR" sz="1100" dirty="0">
                <a:ea typeface="Microsoft GothicNeo"/>
                <a:cs typeface="Microsoft GothicNeo"/>
              </a:rPr>
              <a:t>-&gt; </a:t>
            </a:r>
            <a:r>
              <a:rPr lang="en-US" altLang="ko-KR" sz="1100" dirty="0" err="1">
                <a:ea typeface="Microsoft GothicNeo"/>
                <a:cs typeface="Microsoft GothicNeo"/>
              </a:rPr>
              <a:t>모든</a:t>
            </a:r>
            <a:r>
              <a:rPr lang="en-US" altLang="ko-KR" sz="1100" dirty="0">
                <a:ea typeface="Microsoft GothicNeo"/>
                <a:cs typeface="Microsoft GothicNeo"/>
              </a:rPr>
              <a:t> </a:t>
            </a:r>
            <a:r>
              <a:rPr lang="en-US" altLang="ko-KR" sz="1100" dirty="0" err="1">
                <a:ea typeface="Microsoft GothicNeo"/>
                <a:cs typeface="Microsoft GothicNeo"/>
              </a:rPr>
              <a:t>빌드가</a:t>
            </a:r>
            <a:r>
              <a:rPr lang="en-US" altLang="ko-KR" sz="1100" dirty="0">
                <a:ea typeface="Microsoft GothicNeo"/>
                <a:cs typeface="Microsoft GothicNeo"/>
              </a:rPr>
              <a:t> </a:t>
            </a:r>
            <a:r>
              <a:rPr lang="en-US" altLang="ko-KR" sz="1100" dirty="0" err="1">
                <a:ea typeface="Microsoft GothicNeo"/>
                <a:cs typeface="Microsoft GothicNeo"/>
              </a:rPr>
              <a:t>끝난</a:t>
            </a:r>
            <a:r>
              <a:rPr lang="en-US" altLang="ko-KR" sz="1100" dirty="0">
                <a:ea typeface="Microsoft GothicNeo"/>
                <a:cs typeface="Microsoft GothicNeo"/>
              </a:rPr>
              <a:t> 후 </a:t>
            </a:r>
            <a:r>
              <a:rPr lang="en-US" altLang="ko-KR" sz="1100" dirty="0" err="1">
                <a:ea typeface="Microsoft GothicNeo"/>
                <a:cs typeface="Microsoft GothicNeo"/>
              </a:rPr>
              <a:t>몬스터</a:t>
            </a:r>
            <a:r>
              <a:rPr lang="en-US" altLang="ko-KR" sz="1100" dirty="0">
                <a:ea typeface="Microsoft GothicNeo"/>
                <a:cs typeface="Microsoft GothicNeo"/>
              </a:rPr>
              <a:t> </a:t>
            </a:r>
            <a:r>
              <a:rPr lang="en-US" altLang="ko-KR" sz="1100" dirty="0" err="1">
                <a:ea typeface="Microsoft GothicNeo"/>
                <a:cs typeface="Microsoft GothicNeo"/>
              </a:rPr>
              <a:t>밸런스만</a:t>
            </a:r>
            <a:r>
              <a:rPr lang="en-US" altLang="ko-KR" sz="1100" dirty="0">
                <a:ea typeface="Microsoft GothicNeo"/>
                <a:cs typeface="Microsoft GothicNeo"/>
              </a:rPr>
              <a:t> </a:t>
            </a:r>
            <a:r>
              <a:rPr lang="en-US" altLang="ko-KR" sz="1100" dirty="0" err="1">
                <a:ea typeface="Microsoft GothicNeo"/>
                <a:cs typeface="Microsoft GothicNeo"/>
              </a:rPr>
              <a:t>맞추면</a:t>
            </a:r>
            <a:r>
              <a:rPr lang="en-US" altLang="ko-KR" sz="1100" dirty="0">
                <a:ea typeface="Microsoft GothicNeo"/>
                <a:cs typeface="Microsoft GothicNeo"/>
              </a:rPr>
              <a:t> </a:t>
            </a:r>
            <a:r>
              <a:rPr lang="en-US" altLang="ko-KR" sz="1100" dirty="0" err="1">
                <a:ea typeface="Microsoft GothicNeo"/>
                <a:cs typeface="Microsoft GothicNeo"/>
              </a:rPr>
              <a:t>완성</a:t>
            </a:r>
            <a:endParaRPr lang="en-US" altLang="ko-KR" sz="1100" dirty="0">
              <a:ea typeface="Microsoft GothicNeo"/>
              <a:cs typeface="Microsoft GothicNeo"/>
            </a:endParaRPr>
          </a:p>
          <a:p>
            <a:pPr marL="0" indent="0">
              <a:buNone/>
            </a:pPr>
            <a:endParaRPr lang="en-US" altLang="ko-KR" sz="1100" dirty="0">
              <a:ea typeface="Microsoft GothicNeo"/>
              <a:cs typeface="Microsoft GothicNeo"/>
            </a:endParaRPr>
          </a:p>
          <a:p>
            <a:pPr marL="0" indent="0">
              <a:buNone/>
            </a:pPr>
            <a:r>
              <a:rPr lang="en-US" altLang="ko-KR" sz="1100" dirty="0">
                <a:ea typeface="Microsoft GothicNeo"/>
                <a:cs typeface="Microsoft GothicNeo"/>
              </a:rPr>
              <a:t>***</a:t>
            </a:r>
            <a:r>
              <a:rPr lang="en-US" altLang="ko-KR" sz="1100" dirty="0" err="1">
                <a:ea typeface="Microsoft GothicNeo"/>
                <a:cs typeface="Microsoft GothicNeo"/>
              </a:rPr>
              <a:t>서버</a:t>
            </a:r>
            <a:r>
              <a:rPr lang="en-US" altLang="ko-KR" sz="1100" dirty="0">
                <a:ea typeface="Microsoft GothicNeo"/>
                <a:cs typeface="Microsoft GothicNeo"/>
              </a:rPr>
              <a:t> </a:t>
            </a:r>
            <a:r>
              <a:rPr lang="en-US" altLang="ko-KR" sz="1100" dirty="0" err="1">
                <a:ea typeface="Microsoft GothicNeo"/>
                <a:cs typeface="Microsoft GothicNeo"/>
              </a:rPr>
              <a:t>생성</a:t>
            </a:r>
            <a:r>
              <a:rPr lang="en-US" altLang="ko-KR" sz="1100" dirty="0">
                <a:ea typeface="Microsoft GothicNeo"/>
                <a:cs typeface="Microsoft GothicNeo"/>
              </a:rPr>
              <a:t> 및 </a:t>
            </a:r>
            <a:r>
              <a:rPr lang="en-US" altLang="ko-KR" sz="1100" dirty="0" err="1">
                <a:ea typeface="Microsoft GothicNeo"/>
                <a:cs typeface="Microsoft GothicNeo"/>
              </a:rPr>
              <a:t>멀티플레이</a:t>
            </a:r>
            <a:r>
              <a:rPr lang="en-US" altLang="ko-KR" sz="1100" dirty="0">
                <a:ea typeface="Microsoft GothicNeo"/>
                <a:cs typeface="Microsoft GothicNeo"/>
              </a:rPr>
              <a:t> </a:t>
            </a:r>
            <a:r>
              <a:rPr lang="en-US" altLang="ko-KR" sz="1100" dirty="0" err="1">
                <a:ea typeface="Microsoft GothicNeo"/>
                <a:cs typeface="Microsoft GothicNeo"/>
              </a:rPr>
              <a:t>도전</a:t>
            </a:r>
            <a:r>
              <a:rPr lang="en-US" altLang="ko-KR" sz="1100" dirty="0">
                <a:ea typeface="Microsoft GothicNeo"/>
                <a:cs typeface="Microsoft GothicNeo"/>
              </a:rPr>
              <a:t>***</a:t>
            </a:r>
          </a:p>
          <a:p>
            <a:pPr marL="0" indent="0">
              <a:buNone/>
            </a:pPr>
            <a:endParaRPr lang="en-US" altLang="ko-KR" sz="1100" dirty="0">
              <a:ea typeface="Microsoft GothicNeo"/>
              <a:cs typeface="Microsoft GothicNeo"/>
            </a:endParaRPr>
          </a:p>
          <a:p>
            <a:pPr marL="0" indent="0">
              <a:buNone/>
            </a:pPr>
            <a:endParaRPr lang="en-US" altLang="ko-KR" sz="1100" dirty="0">
              <a:ea typeface="Microsoft GothicNeo"/>
              <a:cs typeface="Microsoft GothicNeo"/>
            </a:endParaRPr>
          </a:p>
        </p:txBody>
      </p:sp>
      <p:pic>
        <p:nvPicPr>
          <p:cNvPr id="5" name="그림 4" descr="텍스트, 번호, 폰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5B1171-4604-BEDE-E335-62DC29B6E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7076" y="1055783"/>
            <a:ext cx="6328185" cy="4737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631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41570-608A-C6A8-EE2F-0CA88544B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2324956"/>
            <a:ext cx="11155680" cy="1463040"/>
          </a:xfrm>
        </p:spPr>
        <p:txBody>
          <a:bodyPr/>
          <a:lstStyle/>
          <a:p>
            <a:pPr algn="ctr"/>
            <a:r>
              <a:rPr lang="ko-KR" altLang="en-US" dirty="0">
                <a:ea typeface="Microsoft GothicNeo"/>
                <a:cs typeface="Microsoft GothicNeo"/>
              </a:rPr>
              <a:t>질의 응답</a:t>
            </a:r>
          </a:p>
        </p:txBody>
      </p:sp>
    </p:spTree>
    <p:extLst>
      <p:ext uri="{BB962C8B-B14F-4D97-AF65-F5344CB8AC3E}">
        <p14:creationId xmlns:p14="http://schemas.microsoft.com/office/powerpoint/2010/main" val="3104246578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Microsoft GothicNeo"/>
        <a:ea typeface=""/>
        <a:cs typeface=""/>
      </a:majorFont>
      <a:minorFont>
        <a:latin typeface="Microsoft GothicNe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0" baseType="lpstr">
      <vt:lpstr>GestaltVTI</vt:lpstr>
      <vt:lpstr>모바일 FPS 게임 (Void Hunter AR)</vt:lpstr>
      <vt:lpstr>목차</vt:lpstr>
      <vt:lpstr>프로젝트 목표 </vt:lpstr>
      <vt:lpstr>시스템 구성도</vt:lpstr>
      <vt:lpstr>진행 상황</vt:lpstr>
      <vt:lpstr>진행 상황</vt:lpstr>
      <vt:lpstr>문제점 해결 및 방안</vt:lpstr>
      <vt:lpstr>향후 계획 </vt:lpstr>
      <vt:lpstr>질의 응답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332</cp:revision>
  <dcterms:created xsi:type="dcterms:W3CDTF">2025-06-08T12:17:24Z</dcterms:created>
  <dcterms:modified xsi:type="dcterms:W3CDTF">2025-09-09T00:21:12Z</dcterms:modified>
</cp:coreProperties>
</file>